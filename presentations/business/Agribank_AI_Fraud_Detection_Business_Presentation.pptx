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C3512"/>
                </a:solidFill>
                <a:latin typeface="+mn-lt"/>
              </a:defRPr>
            </a:pPr>
            <a:r>
              <a:rPr lang="en-PH" sz="1300" b="0" i="0" u="none" strike="noStrike">
                <a:solidFill>
                  <a:srgbClr val="0C3512"/>
                </a:solidFill>
                <a:latin typeface="+mn-lt"/>
              </a:rPr>
              <a:t>PR-AUC, realistic fields, test period (1.0 = perfect)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9B1D1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E7-CB47-BCF9-03DDCAC9A353}"/>
              </c:ext>
            </c:extLst>
          </c:dPt>
          <c:dPt>
            <c:idx val="1"/>
            <c:invertIfNegative val="0"/>
            <c:bubble3D val="0"/>
            <c:spPr>
              <a:solidFill>
                <a:srgbClr val="8DB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E7-CB47-BCF9-03DDCAC9A353}"/>
              </c:ext>
            </c:extLst>
          </c:dPt>
          <c:dPt>
            <c:idx val="2"/>
            <c:invertIfNegative val="0"/>
            <c:bubble3D val="0"/>
            <c:spPr>
              <a:solidFill>
                <a:srgbClr val="8DB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E7-CB47-BCF9-03DDCAC9A353}"/>
              </c:ext>
            </c:extLst>
          </c:dPt>
          <c:dPt>
            <c:idx val="3"/>
            <c:invertIfNegative val="0"/>
            <c:bubble3D val="0"/>
            <c:spPr>
              <a:solidFill>
                <a:srgbClr val="8DB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E7-CB47-BCF9-03DDCAC9A353}"/>
              </c:ext>
            </c:extLst>
          </c:dPt>
          <c:dPt>
            <c:idx val="4"/>
            <c:invertIfNegative val="0"/>
            <c:bubble3D val="0"/>
            <c:spPr>
              <a:solidFill>
                <a:srgbClr val="0C35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DE7-CB47-BCF9-03DDCAC9A353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1F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Fixed rule</c:v>
                </c:pt>
                <c:pt idx="1">
                  <c:v>Logistic Regression</c:v>
                </c:pt>
                <c:pt idx="2">
                  <c:v>Decision Tree</c:v>
                </c:pt>
                <c:pt idx="3">
                  <c:v>Random Forest</c:v>
                </c:pt>
                <c:pt idx="4">
                  <c:v>XGBoost (selected)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1.29E-2</c:v>
                </c:pt>
                <c:pt idx="1">
                  <c:v>0.26939999999999997</c:v>
                </c:pt>
                <c:pt idx="2">
                  <c:v>0.52600000000000002</c:v>
                </c:pt>
                <c:pt idx="3">
                  <c:v>0.55620000000000003</c:v>
                </c:pt>
                <c:pt idx="4">
                  <c:v>0.57769999999999999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DE7-CB47-BCF9-03DDCAC9A3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1F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(fraud cases flagged)</c:v>
                </c:pt>
              </c:strCache>
            </c:strRef>
          </c:tx>
          <c:spPr>
            <a:solidFill>
              <a:srgbClr val="0C3512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1F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50 a day</c:v>
                </c:pt>
                <c:pt idx="1">
                  <c:v>150 a day</c:v>
                </c:pt>
                <c:pt idx="2">
                  <c:v>300 a 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0.18099999999999999</c:v>
                </c:pt>
                <c:pt idx="1">
                  <c:v>0.44800000000000001</c:v>
                </c:pt>
                <c:pt idx="2">
                  <c:v>0.628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AE-BB43-84A1-0E08785E09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 (alerts that were fraud)</c:v>
                </c:pt>
              </c:strCache>
            </c:strRef>
          </c:tx>
          <c:spPr>
            <a:solidFill>
              <a:srgbClr val="8DB07A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1F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50 a day</c:v>
                </c:pt>
                <c:pt idx="1">
                  <c:v>150 a day</c:v>
                </c:pt>
                <c:pt idx="2">
                  <c:v>300 a day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</c:v>
                </c:pt>
                <c:pt idx="1">
                  <c:v>0.75</c:v>
                </c:pt>
                <c:pt idx="2">
                  <c:v>0.52800000000000002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AE-BB43-84A1-0E08785E09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1F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00000000000000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C3512"/>
                </a:solidFill>
                <a:latin typeface="+mn-lt"/>
              </a:defRPr>
            </a:pPr>
            <a:r>
              <a:rPr lang="en-PH" sz="1300" b="0" i="0" u="none" strike="noStrike">
                <a:solidFill>
                  <a:srgbClr val="0C3512"/>
                </a:solidFill>
                <a:latin typeface="+mn-lt"/>
              </a:rPr>
              <a:t>XGBoost test PR-AUC as fields are removed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59595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495-824A-AF8F-B5D0247071F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495-824A-AF8F-B5D0247071F6}"/>
              </c:ext>
            </c:extLst>
          </c:dPt>
          <c:dPt>
            <c:idx val="2"/>
            <c:invertIfNegative val="0"/>
            <c:bubble3D val="0"/>
            <c:spPr>
              <a:solidFill>
                <a:srgbClr val="8DB0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495-824A-AF8F-B5D0247071F6}"/>
              </c:ext>
            </c:extLst>
          </c:dPt>
          <c:dPt>
            <c:idx val="3"/>
            <c:invertIfNegative val="0"/>
            <c:bubble3D val="0"/>
            <c:spPr>
              <a:solidFill>
                <a:srgbClr val="3A7C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495-824A-AF8F-B5D0247071F6}"/>
              </c:ext>
            </c:extLst>
          </c:dPt>
          <c:dPt>
            <c:idx val="4"/>
            <c:invertIfNegative val="0"/>
            <c:bubble3D val="0"/>
            <c:spPr>
              <a:solidFill>
                <a:srgbClr val="0C35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495-824A-AF8F-B5D0247071F6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F1F1F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All PaySim fields</c:v>
                </c:pt>
                <c:pt idx="1">
                  <c:v>Without balance checks</c:v>
                </c:pt>
                <c:pt idx="2">
                  <c:v>Without sender balances</c:v>
                </c:pt>
                <c:pt idx="3">
                  <c:v>Realistic fields</c:v>
                </c:pt>
                <c:pt idx="4">
                  <c:v>Realistic, tuned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0.99939999999999996</c:v>
                </c:pt>
                <c:pt idx="2">
                  <c:v>0.79449999999999998</c:v>
                </c:pt>
                <c:pt idx="3">
                  <c:v>0.55679999999999996</c:v>
                </c:pt>
                <c:pt idx="4">
                  <c:v>0.57769999999999999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495-824A-AF8F-B5D0247071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F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38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AGRIBANK ONLINE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</a:rPr>
              <a:t>Academic capstone using synthetic PaySim data. No Agribank customer or transaction data.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C35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560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AGRIBANK ONLINE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Fraud Detection and Risk Scoring System for Agribank Online Transactions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| AIM Artificial Intelligence and Machine Learning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663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Fritz Jerald V. Principe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Agribusiness Banking Corporation – A Rural Bank |  October 2026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7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proof of concept using synthetic data. Contains no Agribank customer or transaction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monitoring must keep pace as Agribank goes digital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63040" y="2103120"/>
            <a:ext cx="9235440" cy="0"/>
          </a:xfrm>
          <a:prstGeom prst="line">
            <a:avLst/>
          </a:prstGeom>
          <a:noFill/>
          <a:ln w="25400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691640"/>
            <a:ext cx="822960" cy="82296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1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288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Agribank Online in operation; fund transfers not yet available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12080" y="1691640"/>
            <a:ext cx="822960" cy="82296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050" y="190561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6344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InstaPay and PESONet transfers planned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418320" y="1691640"/>
            <a:ext cx="822960" cy="82296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290" y="190561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696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595360" y="2971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Ambition: commercial bank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840480"/>
            <a:ext cx="5394960" cy="187452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77240" y="40690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4738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40233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expect 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Circular No. 1213 and M-2024-029 (AFASA): automated, real-time fraud monitoring and a Fraud Management System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645920" y="50749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find suspicious transfers early without flooding investigators with false alerts.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263640" y="3840480"/>
            <a:ext cx="5394960" cy="1874520"/>
          </a:xfrm>
          <a:prstGeom prst="rect">
            <a:avLst/>
          </a:prstGeom>
          <a:solidFill>
            <a:srgbClr val="FBF0EF"/>
          </a:solidFill>
          <a:ln w="9525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492240" y="4069080"/>
            <a:ext cx="685800" cy="685800"/>
          </a:xfrm>
          <a:prstGeom prst="ellipse">
            <a:avLst/>
          </a:prstGeom>
          <a:solidFill>
            <a:srgbClr val="9B1D1D"/>
          </a:solidFill>
          <a:ln w="12700">
            <a:solidFill>
              <a:srgbClr val="9B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548" y="4247388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360920" y="415631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rule alone fell short (test period, simulated data)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36092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9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4,020 fraud cases flagged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360920" y="4846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9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~71M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6.33B in simulated fraud value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360920" y="5394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currency units, not pesos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/>
              <a:t>Synthetic Data for the Model: </a:t>
            </a:r>
            <a:b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2000" b="0" dirty="0" err="1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PaySim</a:t>
            </a:r>
            <a:r>
              <a:rPr lang="en-US" sz="2000" b="0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large simulated dataset where fraud is rare</a:t>
            </a:r>
            <a:endParaRPr lang="en-US" sz="2800" b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transactions to fraud cases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777240"/>
          </a:xfrm>
          <a:prstGeom prst="rect">
            <a:avLst/>
          </a:prstGeom>
          <a:solidFill>
            <a:srgbClr val="C9D9C0"/>
          </a:solidFill>
          <a:ln w="9525">
            <a:solidFill>
              <a:srgbClr val="C9D9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6,362,620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194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transactions; 11 columns; about 30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2834640" cy="777240"/>
          </a:xfrm>
          <a:prstGeom prst="rect">
            <a:avLst/>
          </a:prstGeom>
          <a:solidFill>
            <a:srgbClr val="8DB07A"/>
          </a:solidFill>
          <a:ln w="9525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2,770,409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154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and cash-outs, the only types with fraud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2011680" cy="777240"/>
          </a:xfrm>
          <a:prstGeom prst="rect">
            <a:avLst/>
          </a:prstGeom>
          <a:solidFill>
            <a:srgbClr val="9B1D1D"/>
          </a:solidFill>
          <a:ln w="9525">
            <a:solidFill>
              <a:srgbClr val="9B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40233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8,213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11480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cases: 0.129%, about 1 in 775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transaction types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005840" cy="384048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45920" y="5349240"/>
            <a:ext cx="1005840" cy="384048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4592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5349240"/>
            <a:ext cx="1005840" cy="384048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74320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5349240"/>
            <a:ext cx="1005840" cy="384048"/>
          </a:xfrm>
          <a:prstGeom prst="rect">
            <a:avLst/>
          </a:prstGeom>
          <a:solidFill>
            <a:srgbClr val="0C3512"/>
          </a:solidFill>
          <a:ln w="9525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84048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5349240"/>
            <a:ext cx="1005840" cy="384048"/>
          </a:xfrm>
          <a:prstGeom prst="rect">
            <a:avLst/>
          </a:prstGeom>
          <a:solidFill>
            <a:srgbClr val="0C3512"/>
          </a:solidFill>
          <a:ln w="9525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37760" y="5349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645920"/>
            <a:ext cx="0" cy="4114800"/>
          </a:xfrm>
          <a:prstGeom prst="line">
            <a:avLst/>
          </a:prstGeom>
          <a:noFill/>
          <a:ln w="12700">
            <a:solidFill>
              <a:srgbClr val="D6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20840" y="164592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61" y="1812341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498080" y="160020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Kaggle dataset from a mobile-money simulator. Each record labeled fraud or legitimate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720840" y="269748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261" y="2863901"/>
            <a:ext cx="307238" cy="307238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498080" y="26517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type, time, sender and receiver balances, fraud label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720840" y="3749040"/>
            <a:ext cx="640080" cy="640080"/>
          </a:xfrm>
          <a:prstGeom prst="ellipse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261" y="3915461"/>
            <a:ext cx="307238" cy="30723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498080" y="370332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lacks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profile, device, login, location, real Philippine transfers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6720840" y="4800600"/>
            <a:ext cx="640080" cy="640080"/>
          </a:xfrm>
          <a:prstGeom prst="ellipse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7261" y="4967021"/>
            <a:ext cx="307238" cy="30723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7498080" y="475488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misleads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nothing still scores 99.87%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learns from past cases, then scores each new transfer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120640" cy="40690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LEARNING (earlier days)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24643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30428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transfers labeled fraud or legitimate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20140" y="3017520"/>
            <a:ext cx="0" cy="347472"/>
          </a:xfrm>
          <a:prstGeom prst="line">
            <a:avLst/>
          </a:prstGeom>
          <a:noFill/>
          <a:ln w="19050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33832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35615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340156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builds hundreds of small decision trees, each fixing the last one's mistakes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120140" y="4114800"/>
            <a:ext cx="0" cy="347472"/>
          </a:xfrm>
          <a:prstGeom prst="line">
            <a:avLst/>
          </a:prstGeom>
          <a:noFill/>
          <a:ln w="19050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77240" y="44805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" y="4658868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45920" y="4498848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tuned on a later validation period; test period kept untouched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760720" y="3520440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080760" y="1645920"/>
            <a:ext cx="5577840" cy="406908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630936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SCORING (each new transfer)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inputs known when the transfer is submitted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629400" y="2560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046" y="27029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6364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vs usual for type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955280" y="2560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926" y="270296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952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part of day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281160" y="2560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3806" y="2702966"/>
            <a:ext cx="263347" cy="26334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891540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 cash-out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10607040" y="25603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9686" y="2702966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241280" y="31546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transfers received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309360" y="4023360"/>
            <a:ext cx="1600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 txBox="1"/>
          <p:nvPr/>
        </p:nvSpPr>
        <p:spPr>
          <a:xfrm>
            <a:off x="6400800" y="4023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add or subtract risk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7927848" y="4315968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6"/>
          <p:cNvSpPr/>
          <p:nvPr/>
        </p:nvSpPr>
        <p:spPr>
          <a:xfrm>
            <a:off x="8092440" y="4023360"/>
            <a:ext cx="1600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 txBox="1"/>
          <p:nvPr/>
        </p:nvSpPr>
        <p:spPr>
          <a:xfrm>
            <a:off x="8183880" y="4023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Probability, then calibrated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9710928" y="4315968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9"/>
          <p:cNvSpPr/>
          <p:nvPr/>
        </p:nvSpPr>
        <p:spPr>
          <a:xfrm>
            <a:off x="9875520" y="4023360"/>
            <a:ext cx="1600200" cy="868680"/>
          </a:xfrm>
          <a:prstGeom prst="rect">
            <a:avLst/>
          </a:prstGeom>
          <a:solidFill>
            <a:srgbClr val="0C3512"/>
          </a:solidFill>
          <a:ln w="9525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 txBox="1"/>
          <p:nvPr/>
        </p:nvSpPr>
        <p:spPr>
          <a:xfrm>
            <a:off x="9966960" y="40233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to 100 + top 3 reasons</a:t>
            </a:r>
            <a:endParaRPr lang="en-US" sz="1300" dirty="0"/>
          </a:p>
        </p:txBody>
      </p:sp>
      <p:sp>
        <p:nvSpPr>
          <p:cNvPr id="40" name="Text 31"/>
          <p:cNvSpPr txBox="1"/>
          <p:nvPr/>
        </p:nvSpPr>
        <p:spPr>
          <a:xfrm>
            <a:off x="6309360" y="5074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= the inputs that pushed this score up most (SHAP).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realistic data, the model far outranks the fixed rule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6675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95% interval: 0.562 to 0.594. Random Forest is close and the intervals overlap.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381" y="1903781"/>
            <a:ext cx="307238" cy="3072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58200" y="16916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PR-AUC means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real fraud rises to the top of the list without too many false alarms, across all thresholds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680960" y="315468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381" y="3321101"/>
            <a:ext cx="307238" cy="30723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458200" y="3108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ranking puts investigator time on likelier fraud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7680960" y="4297680"/>
            <a:ext cx="640080" cy="640080"/>
          </a:xfrm>
          <a:prstGeom prst="ellipse">
            <a:avLst/>
          </a:prstGeom>
          <a:solidFill>
            <a:srgbClr val="FBF0EF"/>
          </a:solidFill>
          <a:ln w="12700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381" y="4464101"/>
            <a:ext cx="307238" cy="30723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458200" y="4251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 times the rule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ranking quality (0.578 vs 0.013), not 45 times fewer losses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150 reviews a day, about three in four alerts were fraud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18699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75.0%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flagged transfers, share that were fraud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alerts was a legitimate transfer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83280" y="169164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18699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420624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fraud cases, share the model flagged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55.2% of fraud cases were not in the queue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169164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228" y="18699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4088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77.9%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704088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value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simulated fraud value in flagged transfers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saving or a forecast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52560" y="169164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0868" y="18699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75520" y="1645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98755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052560" y="2606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 day over the test period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052560" y="3154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size set by team capacity</a:t>
            </a:r>
            <a:endParaRPr lang="en-US" sz="13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548640" y="3749040"/>
          <a:ext cx="69494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Shape 21"/>
          <p:cNvSpPr/>
          <p:nvPr/>
        </p:nvSpPr>
        <p:spPr>
          <a:xfrm>
            <a:off x="7955280" y="3840480"/>
            <a:ext cx="3703320" cy="2011680"/>
          </a:xfrm>
          <a:prstGeom prst="rect">
            <a:avLst/>
          </a:prstGeom>
          <a:solidFill>
            <a:srgbClr val="FBF0EF"/>
          </a:solidFill>
          <a:ln w="9525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 txBox="1"/>
          <p:nvPr/>
        </p:nvSpPr>
        <p:spPr>
          <a:xfrm>
            <a:off x="8183880" y="3977640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a day is assumed, not Agribank staffing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263 fraud cases a day in the test period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data, calibrated scores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alert shows a risk level and the reasons behind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8DB0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ALERT LAYOUT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1463040" cy="685800"/>
          </a:xfrm>
          <a:prstGeom prst="rect">
            <a:avLst/>
          </a:prstGeom>
          <a:solidFill>
            <a:srgbClr val="0C3512"/>
          </a:solidFill>
          <a:ln w="9525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331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70 to 100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reasons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74720"/>
            <a:ext cx="320040" cy="32004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930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931920"/>
            <a:ext cx="320040" cy="32004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0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well above usual for this type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389120"/>
            <a:ext cx="320040" cy="32004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4074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previously received by the account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are the three most common in the realistic model's sample alerts. Not an Agribank transaction. A reason is not proof of fraud.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 risk level (test period)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26480" y="2103120"/>
            <a:ext cx="1371600" cy="731520"/>
          </a:xfrm>
          <a:prstGeom prst="rect">
            <a:avLst/>
          </a:prstGeom>
          <a:solidFill>
            <a:srgbClr val="0C3512"/>
          </a:solidFill>
          <a:ln w="9525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12648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to 100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713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95.5% fraud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5554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2971800"/>
            <a:ext cx="1371600" cy="731520"/>
          </a:xfrm>
          <a:prstGeom prst="rect">
            <a:avLst/>
          </a:prstGeom>
          <a:solidFill>
            <a:srgbClr val="3A7C22"/>
          </a:solidFill>
          <a:ln w="9525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126480" y="29718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 69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1,054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524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79.1% fraud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5554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monitoring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1371600" cy="73152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126480" y="3840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29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414,530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transfers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 fraud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555480" y="4023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processing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4800600"/>
            <a:ext cx="5532120" cy="868680"/>
          </a:xfrm>
          <a:prstGeom prst="rect">
            <a:avLst/>
          </a:prstGeom>
          <a:solidFill>
            <a:srgbClr val="FBF0EF"/>
          </a:solidFill>
          <a:ln w="9525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309360" y="486460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still held 2,505 fraud cases: scores fitted on a 0.13% fraud period understated risk when fraud rose to 0.97%. Bands need regular recalibration.</a:t>
            </a:r>
            <a:endParaRPr lang="en-US" sz="13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perfect score was a warning sign, not a result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691640"/>
          <a:ext cx="65836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78308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941" y="1949501"/>
            <a:ext cx="307238" cy="3072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366760" y="1737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in the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simulated fraud empties the sender account. Models learned that pattern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589520" y="3063240"/>
            <a:ext cx="640080" cy="6400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941" y="3229661"/>
            <a:ext cx="307238" cy="30723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366760" y="3017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it, test again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kept finding substitutes until all balance fields were gone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7589520" y="4343400"/>
            <a:ext cx="640080" cy="64008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5941" y="4509821"/>
            <a:ext cx="307238" cy="30723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366760" y="42976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test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fields known when a transfer is submitted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 score is credible only when the test matches what the Bank would actually know at that moment.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Reducing night-time false alerts also reduced fraud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9B1D1D"/>
          </a:solidFill>
          <a:ln w="12700">
            <a:solidFill>
              <a:srgbClr val="9B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19513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9B1D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37.4x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legitimate transfers were wrongly flagged at 37.4 times the overall false alert rate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model leans most on time of day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affect people who bank at night, such as shift workers. PaySim has no age, sex, location or income fields, so no demographic fairness claim can be made.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retrain without time-of-day fields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77824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48716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false alert rate between time-of-day groups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78240" y="2468880"/>
            <a:ext cx="1188720" cy="59436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778240" y="2468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10058400" y="2624328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0424160" y="2468880"/>
            <a:ext cx="1188720" cy="59436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0424160" y="2468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3558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(before calibration)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78240" y="3337560"/>
            <a:ext cx="1188720" cy="59436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778240" y="3337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0.578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0058400" y="3493008"/>
            <a:ext cx="146304" cy="274320"/>
          </a:xfrm>
          <a:prstGeom prst="chevron">
            <a:avLst/>
          </a:prstGeom>
          <a:solidFill>
            <a:srgbClr val="9B1D1D"/>
          </a:solidFill>
          <a:ln w="12700">
            <a:solidFill>
              <a:srgbClr val="9B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424160" y="3337560"/>
            <a:ext cx="1188720" cy="594360"/>
          </a:xfrm>
          <a:prstGeom prst="rect">
            <a:avLst/>
          </a:prstGeom>
          <a:solidFill>
            <a:srgbClr val="FBF0EF"/>
          </a:solidFill>
          <a:ln w="9525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0424160" y="33375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0.419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422452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flagged at 150 a day (before calibration)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78240" y="4206240"/>
            <a:ext cx="1188720" cy="59436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8778240" y="4206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45.3%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10058400" y="4361688"/>
            <a:ext cx="146304" cy="274320"/>
          </a:xfrm>
          <a:prstGeom prst="chevron">
            <a:avLst/>
          </a:prstGeom>
          <a:solidFill>
            <a:srgbClr val="9B1D1D"/>
          </a:solidFill>
          <a:ln w="12700">
            <a:solidFill>
              <a:srgbClr val="9B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0424160" y="4206240"/>
            <a:ext cx="1188720" cy="594360"/>
          </a:xfrm>
          <a:prstGeom prst="rect">
            <a:avLst/>
          </a:prstGeom>
          <a:solidFill>
            <a:srgbClr val="FBF0EF"/>
          </a:solidFill>
          <a:ln w="9525">
            <a:solidFill>
              <a:srgbClr val="FB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10424160" y="42062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548640" y="5120640"/>
            <a:ext cx="11109960" cy="68580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 txBox="1"/>
          <p:nvPr/>
        </p:nvSpPr>
        <p:spPr>
          <a:xfrm>
            <a:off x="731520" y="51663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even treatment by time of day, fewer fraud cases found. The operating point is a business choice: risk appetite, review capacity and Agribank's own transaction patterns.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scoring could support ITSD's pillars and the ONE direction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0528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2128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InstaPay and PESONet transfers as digital services expand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87452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20528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2064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22128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alerts, documented thresholds, measurable results, human sign-off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874520"/>
            <a:ext cx="685800" cy="68580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028" y="20528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6968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869680" y="22128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sized to team capacity, riskiest transfers first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3246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Technology. ONE Architecture. ONE Secure Bank.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48640" y="3657600"/>
            <a:ext cx="3520440" cy="160020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73152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40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41330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the transfer flow and existing fraud controls, not a standalone tool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297680" y="3657600"/>
            <a:ext cx="3520440" cy="160020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448056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4400" dirty="0"/>
          </a:p>
        </p:txBody>
      </p:sp>
      <p:sp>
        <p:nvSpPr>
          <p:cNvPr id="23" name="Text 18"/>
          <p:cNvSpPr txBox="1"/>
          <p:nvPr/>
        </p:nvSpPr>
        <p:spPr>
          <a:xfrm>
            <a:off x="521208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Security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5212080" y="41330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analytical detection layer that complements rules, monitoring and incident response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046720" y="3657600"/>
            <a:ext cx="3520440" cy="1600200"/>
          </a:xfrm>
          <a:prstGeom prst="rect">
            <a:avLst/>
          </a:prstGeom>
          <a:solidFill>
            <a:srgbClr val="EEF3EA"/>
          </a:solidFill>
          <a:ln w="9525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822960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400" dirty="0"/>
          </a:p>
        </p:txBody>
      </p:sp>
      <p:sp>
        <p:nvSpPr>
          <p:cNvPr id="27" name="Text 22"/>
          <p:cNvSpPr txBox="1"/>
          <p:nvPr/>
        </p:nvSpPr>
        <p:spPr>
          <a:xfrm>
            <a:off x="8961120" y="3794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Governance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961120" y="4133088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owners, approved thresholds and monitored KPIs before production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Commercial-bank readiness: </a:t>
            </a: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evidence and experience before transaction volumes and control requirements grow.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C35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on authorized Agribank data before any live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1691640"/>
            <a:ext cx="868680" cy="8686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17" y="1917497"/>
            <a:ext cx="416966" cy="4169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access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Authorized, anonymized transfers and confirmed fraud cases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886200"/>
            <a:ext cx="1920240" cy="13258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8368" y="3977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proceed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enough real fraud cases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78608" y="2011680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37560" y="1691640"/>
            <a:ext cx="868680" cy="8686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417" y="191749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46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Revalidate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method on Bank data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834640" y="3886200"/>
            <a:ext cx="1920240" cy="13258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2944368" y="3977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proceed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compared with current rules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64608" y="2011680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623560" y="1691640"/>
            <a:ext cx="868680" cy="8686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417" y="191749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206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the rules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review capacity, escalation, owners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120640" y="3886200"/>
            <a:ext cx="1920240" cy="13258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5230368" y="3977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proceed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thresholds tied to risk appetite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150608" y="2011680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909560" y="1691640"/>
            <a:ext cx="868680" cy="868680"/>
          </a:xfrm>
          <a:prstGeom prst="ellipse">
            <a:avLst/>
          </a:prstGeom>
          <a:solidFill>
            <a:srgbClr val="EEF3EA"/>
          </a:solidFill>
          <a:ln w="12700">
            <a:solidFill>
              <a:srgbClr val="EE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5417" y="1917497"/>
            <a:ext cx="416966" cy="41696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066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Parallel run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0664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live transfers with no effect on customers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7406640" y="3886200"/>
            <a:ext cx="1920240" cy="13258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 txBox="1"/>
          <p:nvPr/>
        </p:nvSpPr>
        <p:spPr>
          <a:xfrm>
            <a:off x="7516368" y="3977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proceed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 day, precision, recall, errors by group, score stability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36608" y="2011680"/>
            <a:ext cx="146304" cy="274320"/>
          </a:xfrm>
          <a:prstGeom prst="chevron">
            <a:avLst/>
          </a:prstGeom>
          <a:solidFill>
            <a:srgbClr val="3A7C22"/>
          </a:solidFill>
          <a:ln w="12700">
            <a:solidFill>
              <a:srgbClr val="3A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10195560" y="1691640"/>
            <a:ext cx="868680" cy="868680"/>
          </a:xfrm>
          <a:prstGeom prst="ellipse">
            <a:avLst/>
          </a:prstGeom>
          <a:solidFill>
            <a:srgbClr val="0C3512"/>
          </a:solidFill>
          <a:ln w="12700">
            <a:solidFill>
              <a:srgbClr val="0C35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1417" y="1917497"/>
            <a:ext cx="416966" cy="41696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6926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Decide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9692640" y="30358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and governance review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9692640" y="3886200"/>
            <a:ext cx="1920240" cy="1325880"/>
          </a:xfrm>
          <a:prstGeom prst="rect">
            <a:avLst/>
          </a:prstGeom>
          <a:solidFill>
            <a:srgbClr val="F4F4F2"/>
          </a:solidFill>
          <a:ln w="9525">
            <a:solidFill>
              <a:srgbClr val="F4F4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9802368" y="3977640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7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 proceed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evidence plus internal and regulatory approvals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C35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start before 2027: </a:t>
            </a: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access, validation and operating procedures need lead time before transfer volumes grow. Proposed sequence only; no budget, schedule or approval implied.</a:t>
            </a:r>
            <a:endParaRPr lang="en-US" sz="13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Promising method, not yet proven at Agribank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868680" cy="868680"/>
          </a:xfrm>
          <a:prstGeom prst="ellipse">
            <a:avLst/>
          </a:prstGeom>
          <a:solidFill>
            <a:srgbClr val="1E5A28"/>
          </a:solidFill>
          <a:ln w="12700">
            <a:solidFill>
              <a:srgbClr val="1E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7" y="1963217"/>
            <a:ext cx="416966" cy="41696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461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model: PR-AUC 0.578 vs 0.013 for the fixed rule. About 3 in 4 alerts were fraud at 150 reviews a day. Alerts come with reasons.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34840" y="1737360"/>
            <a:ext cx="868680" cy="868680"/>
          </a:xfrm>
          <a:prstGeom prst="ellipse">
            <a:avLst/>
          </a:prstGeom>
          <a:solidFill>
            <a:srgbClr val="1E5A28"/>
          </a:solidFill>
          <a:ln w="12700">
            <a:solidFill>
              <a:srgbClr val="1E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697" y="196321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434840" y="32461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real Agribank transfers, stability over time, and whether the night-time disparity appears in Bank data.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138160" y="1737360"/>
            <a:ext cx="868680" cy="868680"/>
          </a:xfrm>
          <a:prstGeom prst="ellipse">
            <a:avLst/>
          </a:prstGeom>
          <a:solidFill>
            <a:srgbClr val="1E5A28"/>
          </a:solidFill>
          <a:ln w="12700">
            <a:solidFill>
              <a:srgbClr val="1E5A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017" y="1963217"/>
            <a:ext cx="416966" cy="41696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3816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FE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138160" y="324612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feasibility and validation phase on authorized, anonymized Agribank data, with a parallel run before any deployment decision.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proof of concept on simulated PaySim data. Not a production system.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7C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Capstone report, PART VIII, PART IX and PART XIV.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ribank Capstone">
  <a:themeElements>
    <a:clrScheme name="Agribank Capstone">
      <a:dk1>
        <a:srgbClr val="1F1F1F"/>
      </a:dk1>
      <a:lt1>
        <a:srgbClr val="FFFFFF"/>
      </a:lt1>
      <a:dk2>
        <a:srgbClr val="0C3512"/>
      </a:dk2>
      <a:lt2>
        <a:srgbClr val="EEF3EA"/>
      </a:lt2>
      <a:accent1>
        <a:srgbClr val="3A7C22"/>
      </a:accent1>
      <a:accent2>
        <a:srgbClr val="8DB07A"/>
      </a:accent2>
      <a:accent3>
        <a:srgbClr val="9B1D1D"/>
      </a:accent3>
      <a:accent4>
        <a:srgbClr val="595959"/>
      </a:accent4>
      <a:accent5>
        <a:srgbClr val="C9D9C0"/>
      </a:accent5>
      <a:accent6>
        <a:srgbClr val="B9A77A"/>
      </a:accent6>
      <a:hlink>
        <a:srgbClr val="196B24"/>
      </a:hlink>
      <a:folHlink>
        <a:srgbClr val="3A7C22"/>
      </a:folHlink>
    </a:clrScheme>
    <a:fontScheme name="Agribank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1350</Words>
  <Application>Microsoft Macintosh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Agribank Capstone</vt:lpstr>
      <vt:lpstr>PowerPoint Presentation</vt:lpstr>
      <vt:lpstr>Fraud monitoring must keep pace as Agribank goes digital</vt:lpstr>
      <vt:lpstr>Synthetic Data for the Model:  PaySim is a large simulated dataset where fraud is rare</vt:lpstr>
      <vt:lpstr>The model learns from past cases, then scores each new transfer</vt:lpstr>
      <vt:lpstr>With realistic data, the model far outranks the fixed rule</vt:lpstr>
      <vt:lpstr>At 150 reviews a day, about three in four alerts were fraud</vt:lpstr>
      <vt:lpstr>Each alert shows a risk level and the reasons behind it</vt:lpstr>
      <vt:lpstr>A perfect score was a warning sign, not a result</vt:lpstr>
      <vt:lpstr>Reducing night-time false alerts also reduced fraud detection</vt:lpstr>
      <vt:lpstr>Fraud scoring could support ITSD's pillars and the ONE direction</vt:lpstr>
      <vt:lpstr>Validate on authorized Agribank data before any live use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Fraud Detection and Risk Scoring System for Agribank Online Transactions</dc:title>
  <dc:subject>PptxGenJS Presentation</dc:subject>
  <dc:creator>Fritz Jerald V. Principe</dc:creator>
  <cp:lastModifiedBy>Fritz Jerald V. Principe</cp:lastModifiedBy>
  <cp:revision>3</cp:revision>
  <dcterms:created xsi:type="dcterms:W3CDTF">2026-10-11T01:03:18Z</dcterms:created>
  <dcterms:modified xsi:type="dcterms:W3CDTF">2026-10-11T08:22:24Z</dcterms:modified>
</cp:coreProperties>
</file>